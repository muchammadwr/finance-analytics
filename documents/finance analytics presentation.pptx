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Josefin Sans" charset="1" panose="00000500000000000000"/>
      <p:regular r:id="rId14"/>
    </p:embeddedFont>
    <p:embeddedFont>
      <p:font typeface="Josefin Sans Light" charset="1" panose="00000400000000000000"/>
      <p:regular r:id="rId15"/>
    </p:embeddedFont>
    <p:embeddedFont>
      <p:font typeface="Open Sans Light" charset="1" panose="00000000000000000000"/>
      <p:regular r:id="rId16"/>
    </p:embeddedFont>
    <p:embeddedFont>
      <p:font typeface="Open Sans Bold" charset="1" panose="00000000000000000000"/>
      <p:regular r:id="rId17"/>
    </p:embeddedFont>
    <p:embeddedFont>
      <p:font typeface="Open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0539" y="513682"/>
            <a:ext cx="16405949" cy="9259635"/>
            <a:chOff x="0" y="0"/>
            <a:chExt cx="2541711" cy="143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1711" cy="1434560"/>
            </a:xfrm>
            <a:custGeom>
              <a:avLst/>
              <a:gdLst/>
              <a:ahLst/>
              <a:cxnLst/>
              <a:rect r="r" b="b" t="t" l="l"/>
              <a:pathLst>
                <a:path h="1434560" w="2541711">
                  <a:moveTo>
                    <a:pt x="0" y="0"/>
                  </a:moveTo>
                  <a:lnTo>
                    <a:pt x="2541711" y="0"/>
                  </a:lnTo>
                  <a:lnTo>
                    <a:pt x="2541711" y="1434560"/>
                  </a:lnTo>
                  <a:lnTo>
                    <a:pt x="0" y="143456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82882" r="0" b="-8288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CFD3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CFD3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861880" y="3294220"/>
            <a:ext cx="11743267" cy="3698560"/>
            <a:chOff x="0" y="0"/>
            <a:chExt cx="3092877" cy="9741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92877" cy="974106"/>
            </a:xfrm>
            <a:custGeom>
              <a:avLst/>
              <a:gdLst/>
              <a:ahLst/>
              <a:cxnLst/>
              <a:rect r="r" b="b" t="t" l="l"/>
              <a:pathLst>
                <a:path h="974106" w="3092877">
                  <a:moveTo>
                    <a:pt x="0" y="0"/>
                  </a:moveTo>
                  <a:lnTo>
                    <a:pt x="3092877" y="0"/>
                  </a:lnTo>
                  <a:lnTo>
                    <a:pt x="3092877" y="974106"/>
                  </a:lnTo>
                  <a:lnTo>
                    <a:pt x="0" y="974106"/>
                  </a:lnTo>
                  <a:close/>
                </a:path>
              </a:pathLst>
            </a:custGeom>
            <a:ln w="19050" cap="sq">
              <a:solidFill>
                <a:srgbClr val="E1E1E1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3092877" cy="964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76806" y="4241772"/>
            <a:ext cx="12528427" cy="351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672"/>
              </a:lnSpc>
            </a:pPr>
            <a:r>
              <a:rPr lang="en-US" sz="12429" spc="3579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FINANC’S REPORT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512178" y="2963659"/>
            <a:ext cx="10747122" cy="4359681"/>
          </a:xfrm>
          <a:custGeom>
            <a:avLst/>
            <a:gdLst/>
            <a:ahLst/>
            <a:cxnLst/>
            <a:rect r="r" b="b" t="t" l="l"/>
            <a:pathLst>
              <a:path h="4359681" w="10747122">
                <a:moveTo>
                  <a:pt x="0" y="0"/>
                </a:moveTo>
                <a:lnTo>
                  <a:pt x="10747122" y="0"/>
                </a:lnTo>
                <a:lnTo>
                  <a:pt x="10747122" y="4359682"/>
                </a:lnTo>
                <a:lnTo>
                  <a:pt x="0" y="4359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66139"/>
            <a:ext cx="6492149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PROFITABILTY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38933"/>
            <a:ext cx="5245353" cy="132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</a:t>
            </a:r>
            <a:r>
              <a:rPr lang="en-US" sz="190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et profit exhibits a fluctuating but generally stable trend, peaking significantly in </a:t>
            </a:r>
            <a:r>
              <a:rPr lang="en-US" b="true" sz="190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March ($4.5M)</a:t>
            </a:r>
            <a:r>
              <a:rPr lang="en-US" sz="190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while maintaining a consistent baseline above </a:t>
            </a:r>
            <a:r>
              <a:rPr lang="en-US" b="true" sz="190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$3.7M</a:t>
            </a:r>
            <a:r>
              <a:rPr lang="en-US" sz="190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throughout the fiscal year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81122" y="3712845"/>
            <a:ext cx="1385888" cy="1092518"/>
            <a:chOff x="0" y="0"/>
            <a:chExt cx="1847850" cy="1456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800" y="45346"/>
              <a:ext cx="1751612" cy="1366917"/>
            </a:xfrm>
            <a:custGeom>
              <a:avLst/>
              <a:gdLst/>
              <a:ahLst/>
              <a:cxnLst/>
              <a:rect r="r" b="b" t="t" l="l"/>
              <a:pathLst>
                <a:path h="1366917" w="1751612">
                  <a:moveTo>
                    <a:pt x="741680" y="344544"/>
                  </a:moveTo>
                  <a:cubicBezTo>
                    <a:pt x="415290" y="329304"/>
                    <a:pt x="370840" y="333114"/>
                    <a:pt x="322580" y="347084"/>
                  </a:cubicBezTo>
                  <a:cubicBezTo>
                    <a:pt x="273050" y="362324"/>
                    <a:pt x="219710" y="385184"/>
                    <a:pt x="180340" y="416934"/>
                  </a:cubicBezTo>
                  <a:cubicBezTo>
                    <a:pt x="143510" y="446144"/>
                    <a:pt x="113030" y="481704"/>
                    <a:pt x="92710" y="526154"/>
                  </a:cubicBezTo>
                  <a:cubicBezTo>
                    <a:pt x="68580" y="578224"/>
                    <a:pt x="55880" y="648074"/>
                    <a:pt x="57150" y="714114"/>
                  </a:cubicBezTo>
                  <a:cubicBezTo>
                    <a:pt x="58420" y="791584"/>
                    <a:pt x="80010" y="885564"/>
                    <a:pt x="114300" y="960494"/>
                  </a:cubicBezTo>
                  <a:cubicBezTo>
                    <a:pt x="148590" y="1036694"/>
                    <a:pt x="200660" y="1114164"/>
                    <a:pt x="262890" y="1167504"/>
                  </a:cubicBezTo>
                  <a:cubicBezTo>
                    <a:pt x="325120" y="1222114"/>
                    <a:pt x="406400" y="1261484"/>
                    <a:pt x="491490" y="1284344"/>
                  </a:cubicBezTo>
                  <a:cubicBezTo>
                    <a:pt x="582930" y="1309744"/>
                    <a:pt x="690880" y="1318634"/>
                    <a:pt x="796290" y="1302124"/>
                  </a:cubicBezTo>
                  <a:cubicBezTo>
                    <a:pt x="915670" y="1284344"/>
                    <a:pt x="1056640" y="1220844"/>
                    <a:pt x="1168400" y="1162424"/>
                  </a:cubicBezTo>
                  <a:cubicBezTo>
                    <a:pt x="1271270" y="1106544"/>
                    <a:pt x="1366520" y="1035424"/>
                    <a:pt x="1442720" y="964304"/>
                  </a:cubicBezTo>
                  <a:cubicBezTo>
                    <a:pt x="1510030" y="902074"/>
                    <a:pt x="1570990" y="834764"/>
                    <a:pt x="1611630" y="766184"/>
                  </a:cubicBezTo>
                  <a:cubicBezTo>
                    <a:pt x="1645920" y="705224"/>
                    <a:pt x="1667510" y="641724"/>
                    <a:pt x="1680210" y="579494"/>
                  </a:cubicBezTo>
                  <a:cubicBezTo>
                    <a:pt x="1692910" y="519804"/>
                    <a:pt x="1701800" y="456304"/>
                    <a:pt x="1689100" y="399154"/>
                  </a:cubicBezTo>
                  <a:cubicBezTo>
                    <a:pt x="1675130" y="342004"/>
                    <a:pt x="1644650" y="279774"/>
                    <a:pt x="1600200" y="235324"/>
                  </a:cubicBezTo>
                  <a:cubicBezTo>
                    <a:pt x="1551940" y="187064"/>
                    <a:pt x="1487170" y="154044"/>
                    <a:pt x="1398270" y="127374"/>
                  </a:cubicBezTo>
                  <a:cubicBezTo>
                    <a:pt x="1254760" y="82924"/>
                    <a:pt x="864870" y="84194"/>
                    <a:pt x="801370" y="61334"/>
                  </a:cubicBezTo>
                  <a:cubicBezTo>
                    <a:pt x="788670" y="56254"/>
                    <a:pt x="782320" y="53714"/>
                    <a:pt x="779780" y="46094"/>
                  </a:cubicBezTo>
                  <a:cubicBezTo>
                    <a:pt x="775970" y="37204"/>
                    <a:pt x="778510" y="18154"/>
                    <a:pt x="784860" y="11804"/>
                  </a:cubicBezTo>
                  <a:cubicBezTo>
                    <a:pt x="789940" y="5454"/>
                    <a:pt x="803910" y="2914"/>
                    <a:pt x="811530" y="5454"/>
                  </a:cubicBezTo>
                  <a:cubicBezTo>
                    <a:pt x="819150" y="6724"/>
                    <a:pt x="828040" y="15614"/>
                    <a:pt x="831850" y="21964"/>
                  </a:cubicBezTo>
                  <a:cubicBezTo>
                    <a:pt x="834390" y="29584"/>
                    <a:pt x="833120" y="42284"/>
                    <a:pt x="828040" y="48634"/>
                  </a:cubicBezTo>
                  <a:cubicBezTo>
                    <a:pt x="822960" y="56254"/>
                    <a:pt x="803910" y="62604"/>
                    <a:pt x="795020" y="60064"/>
                  </a:cubicBezTo>
                  <a:cubicBezTo>
                    <a:pt x="787400" y="56254"/>
                    <a:pt x="775970" y="39744"/>
                    <a:pt x="775970" y="30854"/>
                  </a:cubicBezTo>
                  <a:cubicBezTo>
                    <a:pt x="775970" y="23234"/>
                    <a:pt x="778510" y="14344"/>
                    <a:pt x="789940" y="7994"/>
                  </a:cubicBezTo>
                  <a:cubicBezTo>
                    <a:pt x="844550" y="-18676"/>
                    <a:pt x="1271270" y="25774"/>
                    <a:pt x="1424940" y="76574"/>
                  </a:cubicBezTo>
                  <a:cubicBezTo>
                    <a:pt x="1522730" y="108324"/>
                    <a:pt x="1593850" y="148964"/>
                    <a:pt x="1647190" y="206114"/>
                  </a:cubicBezTo>
                  <a:cubicBezTo>
                    <a:pt x="1696720" y="258184"/>
                    <a:pt x="1731010" y="331844"/>
                    <a:pt x="1744980" y="397884"/>
                  </a:cubicBezTo>
                  <a:cubicBezTo>
                    <a:pt x="1758950" y="462654"/>
                    <a:pt x="1748790" y="532504"/>
                    <a:pt x="1733550" y="598544"/>
                  </a:cubicBezTo>
                  <a:cubicBezTo>
                    <a:pt x="1719580" y="668394"/>
                    <a:pt x="1694180" y="736974"/>
                    <a:pt x="1656080" y="801744"/>
                  </a:cubicBezTo>
                  <a:cubicBezTo>
                    <a:pt x="1611630" y="875404"/>
                    <a:pt x="1548130" y="946524"/>
                    <a:pt x="1477010" y="1011294"/>
                  </a:cubicBezTo>
                  <a:cubicBezTo>
                    <a:pt x="1395730" y="1084954"/>
                    <a:pt x="1296670" y="1158614"/>
                    <a:pt x="1188720" y="1215764"/>
                  </a:cubicBezTo>
                  <a:cubicBezTo>
                    <a:pt x="1071880" y="1276724"/>
                    <a:pt x="922020" y="1341494"/>
                    <a:pt x="795020" y="1359274"/>
                  </a:cubicBezTo>
                  <a:cubicBezTo>
                    <a:pt x="681990" y="1375784"/>
                    <a:pt x="565150" y="1364354"/>
                    <a:pt x="466090" y="1336414"/>
                  </a:cubicBezTo>
                  <a:cubicBezTo>
                    <a:pt x="374650" y="1309744"/>
                    <a:pt x="285750" y="1264024"/>
                    <a:pt x="218440" y="1203064"/>
                  </a:cubicBezTo>
                  <a:cubicBezTo>
                    <a:pt x="149860" y="1143374"/>
                    <a:pt x="95250" y="1058284"/>
                    <a:pt x="58420" y="974464"/>
                  </a:cubicBezTo>
                  <a:cubicBezTo>
                    <a:pt x="22860" y="891914"/>
                    <a:pt x="0" y="790314"/>
                    <a:pt x="0" y="705224"/>
                  </a:cubicBezTo>
                  <a:cubicBezTo>
                    <a:pt x="0" y="630294"/>
                    <a:pt x="17780" y="550284"/>
                    <a:pt x="45720" y="491864"/>
                  </a:cubicBezTo>
                  <a:cubicBezTo>
                    <a:pt x="71120" y="439794"/>
                    <a:pt x="109220" y="399154"/>
                    <a:pt x="152400" y="364864"/>
                  </a:cubicBezTo>
                  <a:cubicBezTo>
                    <a:pt x="198120" y="330574"/>
                    <a:pt x="259080" y="305174"/>
                    <a:pt x="313690" y="288664"/>
                  </a:cubicBezTo>
                  <a:cubicBezTo>
                    <a:pt x="365760" y="272154"/>
                    <a:pt x="415290" y="269614"/>
                    <a:pt x="472440" y="267074"/>
                  </a:cubicBezTo>
                  <a:cubicBezTo>
                    <a:pt x="542290" y="263264"/>
                    <a:pt x="645160" y="260724"/>
                    <a:pt x="701040" y="272154"/>
                  </a:cubicBezTo>
                  <a:cubicBezTo>
                    <a:pt x="734060" y="278504"/>
                    <a:pt x="769620" y="287394"/>
                    <a:pt x="777240" y="301364"/>
                  </a:cubicBezTo>
                  <a:cubicBezTo>
                    <a:pt x="782320" y="311524"/>
                    <a:pt x="777240" y="329304"/>
                    <a:pt x="770890" y="336924"/>
                  </a:cubicBezTo>
                  <a:cubicBezTo>
                    <a:pt x="764540" y="343274"/>
                    <a:pt x="741680" y="344544"/>
                    <a:pt x="741680" y="3445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60080" y="5021580"/>
            <a:ext cx="1244918" cy="1124902"/>
            <a:chOff x="0" y="0"/>
            <a:chExt cx="1659890" cy="1499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20" y="49252"/>
              <a:ext cx="1564569" cy="1405610"/>
            </a:xfrm>
            <a:custGeom>
              <a:avLst/>
              <a:gdLst/>
              <a:ahLst/>
              <a:cxnLst/>
              <a:rect r="r" b="b" t="t" l="l"/>
              <a:pathLst>
                <a:path h="1405610" w="1564569">
                  <a:moveTo>
                    <a:pt x="729060" y="228878"/>
                  </a:moveTo>
                  <a:cubicBezTo>
                    <a:pt x="538560" y="203478"/>
                    <a:pt x="480140" y="207288"/>
                    <a:pt x="429340" y="218718"/>
                  </a:cubicBezTo>
                  <a:cubicBezTo>
                    <a:pt x="377270" y="230148"/>
                    <a:pt x="323930" y="246658"/>
                    <a:pt x="280750" y="274598"/>
                  </a:cubicBezTo>
                  <a:cubicBezTo>
                    <a:pt x="237570" y="303808"/>
                    <a:pt x="199470" y="341908"/>
                    <a:pt x="168990" y="390168"/>
                  </a:cubicBezTo>
                  <a:cubicBezTo>
                    <a:pt x="134700" y="444778"/>
                    <a:pt x="110570" y="517168"/>
                    <a:pt x="91520" y="594638"/>
                  </a:cubicBezTo>
                  <a:cubicBezTo>
                    <a:pt x="69930" y="686078"/>
                    <a:pt x="55960" y="805458"/>
                    <a:pt x="57230" y="904518"/>
                  </a:cubicBezTo>
                  <a:cubicBezTo>
                    <a:pt x="59770" y="993418"/>
                    <a:pt x="67390" y="1091208"/>
                    <a:pt x="95330" y="1159788"/>
                  </a:cubicBezTo>
                  <a:cubicBezTo>
                    <a:pt x="118190" y="1214398"/>
                    <a:pt x="153750" y="1261388"/>
                    <a:pt x="191850" y="1293138"/>
                  </a:cubicBezTo>
                  <a:cubicBezTo>
                    <a:pt x="227410" y="1319808"/>
                    <a:pt x="264240" y="1337588"/>
                    <a:pt x="311230" y="1345208"/>
                  </a:cubicBezTo>
                  <a:cubicBezTo>
                    <a:pt x="373460" y="1356638"/>
                    <a:pt x="457280" y="1347748"/>
                    <a:pt x="536020" y="1326158"/>
                  </a:cubicBezTo>
                  <a:cubicBezTo>
                    <a:pt x="635080" y="1300758"/>
                    <a:pt x="753190" y="1238528"/>
                    <a:pt x="854790" y="1181378"/>
                  </a:cubicBezTo>
                  <a:cubicBezTo>
                    <a:pt x="958930" y="1122958"/>
                    <a:pt x="1063070" y="1056918"/>
                    <a:pt x="1151970" y="980718"/>
                  </a:cubicBezTo>
                  <a:cubicBezTo>
                    <a:pt x="1238330" y="908328"/>
                    <a:pt x="1325960" y="821968"/>
                    <a:pt x="1383110" y="736878"/>
                  </a:cubicBezTo>
                  <a:cubicBezTo>
                    <a:pt x="1432640" y="664488"/>
                    <a:pt x="1469470" y="584478"/>
                    <a:pt x="1489790" y="509548"/>
                  </a:cubicBezTo>
                  <a:cubicBezTo>
                    <a:pt x="1506300" y="443508"/>
                    <a:pt x="1515190" y="371118"/>
                    <a:pt x="1502490" y="313968"/>
                  </a:cubicBezTo>
                  <a:cubicBezTo>
                    <a:pt x="1489790" y="265708"/>
                    <a:pt x="1458040" y="219988"/>
                    <a:pt x="1426290" y="186968"/>
                  </a:cubicBezTo>
                  <a:cubicBezTo>
                    <a:pt x="1395810" y="153948"/>
                    <a:pt x="1362790" y="133628"/>
                    <a:pt x="1314530" y="113308"/>
                  </a:cubicBezTo>
                  <a:cubicBezTo>
                    <a:pt x="1238330" y="82828"/>
                    <a:pt x="1038940" y="86638"/>
                    <a:pt x="1003380" y="54888"/>
                  </a:cubicBezTo>
                  <a:cubicBezTo>
                    <a:pt x="989410" y="43458"/>
                    <a:pt x="986870" y="23138"/>
                    <a:pt x="990680" y="14248"/>
                  </a:cubicBezTo>
                  <a:cubicBezTo>
                    <a:pt x="994490" y="6628"/>
                    <a:pt x="1013540" y="-2262"/>
                    <a:pt x="1022430" y="1548"/>
                  </a:cubicBezTo>
                  <a:cubicBezTo>
                    <a:pt x="1031320" y="4088"/>
                    <a:pt x="1045290" y="28218"/>
                    <a:pt x="1042750" y="37108"/>
                  </a:cubicBezTo>
                  <a:cubicBezTo>
                    <a:pt x="1040210" y="45998"/>
                    <a:pt x="1014810" y="58698"/>
                    <a:pt x="1005920" y="56158"/>
                  </a:cubicBezTo>
                  <a:cubicBezTo>
                    <a:pt x="997030" y="53618"/>
                    <a:pt x="986870" y="35838"/>
                    <a:pt x="986870" y="26948"/>
                  </a:cubicBezTo>
                  <a:cubicBezTo>
                    <a:pt x="986870" y="18058"/>
                    <a:pt x="991950" y="9168"/>
                    <a:pt x="1002110" y="4088"/>
                  </a:cubicBezTo>
                  <a:cubicBezTo>
                    <a:pt x="1030050" y="-9882"/>
                    <a:pt x="1149430" y="15518"/>
                    <a:pt x="1210390" y="26948"/>
                  </a:cubicBezTo>
                  <a:cubicBezTo>
                    <a:pt x="1261190" y="37108"/>
                    <a:pt x="1303100" y="44728"/>
                    <a:pt x="1345010" y="65048"/>
                  </a:cubicBezTo>
                  <a:cubicBezTo>
                    <a:pt x="1390730" y="87908"/>
                    <a:pt x="1438990" y="117118"/>
                    <a:pt x="1474550" y="156488"/>
                  </a:cubicBezTo>
                  <a:cubicBezTo>
                    <a:pt x="1511380" y="198398"/>
                    <a:pt x="1545670" y="254278"/>
                    <a:pt x="1558370" y="312698"/>
                  </a:cubicBezTo>
                  <a:cubicBezTo>
                    <a:pt x="1572340" y="378738"/>
                    <a:pt x="1560910" y="460018"/>
                    <a:pt x="1541860" y="532408"/>
                  </a:cubicBezTo>
                  <a:cubicBezTo>
                    <a:pt x="1520270" y="613688"/>
                    <a:pt x="1478360" y="697508"/>
                    <a:pt x="1425020" y="776248"/>
                  </a:cubicBezTo>
                  <a:cubicBezTo>
                    <a:pt x="1364060" y="863878"/>
                    <a:pt x="1273890" y="952778"/>
                    <a:pt x="1184990" y="1027708"/>
                  </a:cubicBezTo>
                  <a:cubicBezTo>
                    <a:pt x="1092280" y="1105178"/>
                    <a:pt x="985600" y="1173758"/>
                    <a:pt x="878920" y="1233448"/>
                  </a:cubicBezTo>
                  <a:cubicBezTo>
                    <a:pt x="772240" y="1293138"/>
                    <a:pt x="647780" y="1357908"/>
                    <a:pt x="541100" y="1383308"/>
                  </a:cubicBezTo>
                  <a:cubicBezTo>
                    <a:pt x="453470" y="1404898"/>
                    <a:pt x="360760" y="1412518"/>
                    <a:pt x="289640" y="1398548"/>
                  </a:cubicBezTo>
                  <a:cubicBezTo>
                    <a:pt x="233760" y="1387118"/>
                    <a:pt x="189310" y="1362988"/>
                    <a:pt x="148670" y="1328698"/>
                  </a:cubicBezTo>
                  <a:cubicBezTo>
                    <a:pt x="104220" y="1289328"/>
                    <a:pt x="64850" y="1234718"/>
                    <a:pt x="39450" y="1171218"/>
                  </a:cubicBezTo>
                  <a:cubicBezTo>
                    <a:pt x="10240" y="1095018"/>
                    <a:pt x="1350" y="993418"/>
                    <a:pt x="80" y="898168"/>
                  </a:cubicBezTo>
                  <a:cubicBezTo>
                    <a:pt x="-1190" y="795298"/>
                    <a:pt x="12780" y="669568"/>
                    <a:pt x="36910" y="573048"/>
                  </a:cubicBezTo>
                  <a:cubicBezTo>
                    <a:pt x="58500" y="490498"/>
                    <a:pt x="86440" y="411758"/>
                    <a:pt x="127080" y="350798"/>
                  </a:cubicBezTo>
                  <a:cubicBezTo>
                    <a:pt x="162640" y="297458"/>
                    <a:pt x="207090" y="253008"/>
                    <a:pt x="257890" y="221258"/>
                  </a:cubicBezTo>
                  <a:cubicBezTo>
                    <a:pt x="307420" y="189508"/>
                    <a:pt x="367110" y="171728"/>
                    <a:pt x="424260" y="159028"/>
                  </a:cubicBezTo>
                  <a:cubicBezTo>
                    <a:pt x="480140" y="146328"/>
                    <a:pt x="542370" y="143788"/>
                    <a:pt x="598250" y="146328"/>
                  </a:cubicBezTo>
                  <a:cubicBezTo>
                    <a:pt x="651590" y="148868"/>
                    <a:pt x="730330" y="153948"/>
                    <a:pt x="753190" y="172998"/>
                  </a:cubicBezTo>
                  <a:cubicBezTo>
                    <a:pt x="763350" y="181888"/>
                    <a:pt x="767160" y="197128"/>
                    <a:pt x="764620" y="206018"/>
                  </a:cubicBezTo>
                  <a:cubicBezTo>
                    <a:pt x="760810" y="216178"/>
                    <a:pt x="729060" y="228878"/>
                    <a:pt x="729060" y="22887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482526" y="3154900"/>
            <a:ext cx="10804726" cy="3977200"/>
          </a:xfrm>
          <a:custGeom>
            <a:avLst/>
            <a:gdLst/>
            <a:ahLst/>
            <a:cxnLst/>
            <a:rect r="r" b="b" t="t" l="l"/>
            <a:pathLst>
              <a:path h="3977200" w="10804726">
                <a:moveTo>
                  <a:pt x="0" y="0"/>
                </a:moveTo>
                <a:lnTo>
                  <a:pt x="10804727" y="0"/>
                </a:lnTo>
                <a:lnTo>
                  <a:pt x="10804727" y="3977200"/>
                </a:lnTo>
                <a:lnTo>
                  <a:pt x="0" y="397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66139"/>
            <a:ext cx="6492149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GROSS MARGIN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38933"/>
            <a:ext cx="5245353" cy="132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Gross</a:t>
            </a:r>
            <a:r>
              <a:rPr lang="en-US" sz="1904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Margin exhibits high monthly volatility throughout the year, reaching a peak of 189.17% in October following its lowest point of 157.28% in July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253210" y="3825240"/>
            <a:ext cx="1556385" cy="921068"/>
            <a:chOff x="0" y="0"/>
            <a:chExt cx="2075180" cy="12280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5795" y="50124"/>
              <a:ext cx="1979627" cy="1127034"/>
            </a:xfrm>
            <a:custGeom>
              <a:avLst/>
              <a:gdLst/>
              <a:ahLst/>
              <a:cxnLst/>
              <a:rect r="r" b="b" t="t" l="l"/>
              <a:pathLst>
                <a:path h="1127034" w="1979627">
                  <a:moveTo>
                    <a:pt x="1093395" y="228006"/>
                  </a:moveTo>
                  <a:cubicBezTo>
                    <a:pt x="869875" y="208956"/>
                    <a:pt x="796215" y="205146"/>
                    <a:pt x="726365" y="219116"/>
                  </a:cubicBezTo>
                  <a:cubicBezTo>
                    <a:pt x="647625" y="233086"/>
                    <a:pt x="554915" y="269916"/>
                    <a:pt x="488875" y="301666"/>
                  </a:cubicBezTo>
                  <a:cubicBezTo>
                    <a:pt x="435535" y="325796"/>
                    <a:pt x="397435" y="352466"/>
                    <a:pt x="352985" y="384216"/>
                  </a:cubicBezTo>
                  <a:cubicBezTo>
                    <a:pt x="304725" y="418506"/>
                    <a:pt x="252655" y="460416"/>
                    <a:pt x="210745" y="503596"/>
                  </a:cubicBezTo>
                  <a:cubicBezTo>
                    <a:pt x="172645" y="545506"/>
                    <a:pt x="135815" y="589956"/>
                    <a:pt x="110415" y="636946"/>
                  </a:cubicBezTo>
                  <a:cubicBezTo>
                    <a:pt x="86285" y="681396"/>
                    <a:pt x="64695" y="729656"/>
                    <a:pt x="58345" y="774106"/>
                  </a:cubicBezTo>
                  <a:cubicBezTo>
                    <a:pt x="53265" y="816016"/>
                    <a:pt x="54535" y="861736"/>
                    <a:pt x="68505" y="898566"/>
                  </a:cubicBezTo>
                  <a:cubicBezTo>
                    <a:pt x="82475" y="935396"/>
                    <a:pt x="109145" y="972226"/>
                    <a:pt x="140895" y="996356"/>
                  </a:cubicBezTo>
                  <a:cubicBezTo>
                    <a:pt x="176455" y="1023026"/>
                    <a:pt x="227255" y="1034456"/>
                    <a:pt x="272975" y="1047156"/>
                  </a:cubicBezTo>
                  <a:cubicBezTo>
                    <a:pt x="317425" y="1058586"/>
                    <a:pt x="364415" y="1067476"/>
                    <a:pt x="412675" y="1070016"/>
                  </a:cubicBezTo>
                  <a:cubicBezTo>
                    <a:pt x="464745" y="1072556"/>
                    <a:pt x="501575" y="1070016"/>
                    <a:pt x="576505" y="1058586"/>
                  </a:cubicBezTo>
                  <a:cubicBezTo>
                    <a:pt x="745415" y="1033186"/>
                    <a:pt x="1200075" y="922696"/>
                    <a:pt x="1393115" y="873166"/>
                  </a:cubicBezTo>
                  <a:cubicBezTo>
                    <a:pt x="1499795" y="846496"/>
                    <a:pt x="1565835" y="831256"/>
                    <a:pt x="1639495" y="803316"/>
                  </a:cubicBezTo>
                  <a:cubicBezTo>
                    <a:pt x="1700455" y="779186"/>
                    <a:pt x="1760145" y="755056"/>
                    <a:pt x="1803325" y="722036"/>
                  </a:cubicBezTo>
                  <a:cubicBezTo>
                    <a:pt x="1840155" y="694096"/>
                    <a:pt x="1869365" y="661076"/>
                    <a:pt x="1889685" y="628056"/>
                  </a:cubicBezTo>
                  <a:cubicBezTo>
                    <a:pt x="1907465" y="597576"/>
                    <a:pt x="1920165" y="564556"/>
                    <a:pt x="1923975" y="530266"/>
                  </a:cubicBezTo>
                  <a:cubicBezTo>
                    <a:pt x="1926515" y="495976"/>
                    <a:pt x="1923975" y="459146"/>
                    <a:pt x="1907465" y="423586"/>
                  </a:cubicBezTo>
                  <a:cubicBezTo>
                    <a:pt x="1888415" y="380406"/>
                    <a:pt x="1845235" y="335956"/>
                    <a:pt x="1799515" y="299126"/>
                  </a:cubicBezTo>
                  <a:cubicBezTo>
                    <a:pt x="1744905" y="253406"/>
                    <a:pt x="1672515" y="219116"/>
                    <a:pt x="1595045" y="181016"/>
                  </a:cubicBezTo>
                  <a:cubicBezTo>
                    <a:pt x="1501065" y="135296"/>
                    <a:pt x="1300405" y="83226"/>
                    <a:pt x="1267385" y="50206"/>
                  </a:cubicBezTo>
                  <a:cubicBezTo>
                    <a:pt x="1258495" y="41316"/>
                    <a:pt x="1255955" y="32426"/>
                    <a:pt x="1257225" y="24806"/>
                  </a:cubicBezTo>
                  <a:cubicBezTo>
                    <a:pt x="1258495" y="15916"/>
                    <a:pt x="1272465" y="1946"/>
                    <a:pt x="1281355" y="676"/>
                  </a:cubicBezTo>
                  <a:cubicBezTo>
                    <a:pt x="1288975" y="-1864"/>
                    <a:pt x="1300405" y="3216"/>
                    <a:pt x="1306755" y="8296"/>
                  </a:cubicBezTo>
                  <a:cubicBezTo>
                    <a:pt x="1311835" y="14646"/>
                    <a:pt x="1315645" y="26076"/>
                    <a:pt x="1313105" y="34966"/>
                  </a:cubicBezTo>
                  <a:cubicBezTo>
                    <a:pt x="1311835" y="42586"/>
                    <a:pt x="1302945" y="51476"/>
                    <a:pt x="1296595" y="55286"/>
                  </a:cubicBezTo>
                  <a:cubicBezTo>
                    <a:pt x="1288975" y="57826"/>
                    <a:pt x="1276275" y="56556"/>
                    <a:pt x="1269925" y="51476"/>
                  </a:cubicBezTo>
                  <a:cubicBezTo>
                    <a:pt x="1262305" y="46396"/>
                    <a:pt x="1254685" y="27346"/>
                    <a:pt x="1258495" y="19726"/>
                  </a:cubicBezTo>
                  <a:cubicBezTo>
                    <a:pt x="1262305" y="9566"/>
                    <a:pt x="1277545" y="1946"/>
                    <a:pt x="1296595" y="1946"/>
                  </a:cubicBezTo>
                  <a:cubicBezTo>
                    <a:pt x="1351205" y="676"/>
                    <a:pt x="1527735" y="84496"/>
                    <a:pt x="1624255" y="132756"/>
                  </a:cubicBezTo>
                  <a:cubicBezTo>
                    <a:pt x="1706805" y="172126"/>
                    <a:pt x="1784275" y="210226"/>
                    <a:pt x="1842695" y="261026"/>
                  </a:cubicBezTo>
                  <a:cubicBezTo>
                    <a:pt x="1893495" y="305476"/>
                    <a:pt x="1940485" y="360086"/>
                    <a:pt x="1962075" y="412156"/>
                  </a:cubicBezTo>
                  <a:cubicBezTo>
                    <a:pt x="1979855" y="455336"/>
                    <a:pt x="1982395" y="504866"/>
                    <a:pt x="1977315" y="548046"/>
                  </a:cubicBezTo>
                  <a:cubicBezTo>
                    <a:pt x="1972235" y="588686"/>
                    <a:pt x="1954455" y="629326"/>
                    <a:pt x="1931595" y="664886"/>
                  </a:cubicBezTo>
                  <a:cubicBezTo>
                    <a:pt x="1907465" y="704256"/>
                    <a:pt x="1871905" y="741086"/>
                    <a:pt x="1829995" y="771566"/>
                  </a:cubicBezTo>
                  <a:cubicBezTo>
                    <a:pt x="1781735" y="807126"/>
                    <a:pt x="1737285" y="827446"/>
                    <a:pt x="1654735" y="857926"/>
                  </a:cubicBezTo>
                  <a:cubicBezTo>
                    <a:pt x="1483285" y="921426"/>
                    <a:pt x="1023545" y="1023026"/>
                    <a:pt x="829235" y="1067476"/>
                  </a:cubicBezTo>
                  <a:cubicBezTo>
                    <a:pt x="722555" y="1091606"/>
                    <a:pt x="656515" y="1105576"/>
                    <a:pt x="580315" y="1115736"/>
                  </a:cubicBezTo>
                  <a:cubicBezTo>
                    <a:pt x="516815" y="1123356"/>
                    <a:pt x="459665" y="1129706"/>
                    <a:pt x="403785" y="1125896"/>
                  </a:cubicBezTo>
                  <a:cubicBezTo>
                    <a:pt x="350445" y="1123356"/>
                    <a:pt x="300915" y="1114466"/>
                    <a:pt x="251385" y="1099226"/>
                  </a:cubicBezTo>
                  <a:cubicBezTo>
                    <a:pt x="199315" y="1083986"/>
                    <a:pt x="138355" y="1066206"/>
                    <a:pt x="98985" y="1033186"/>
                  </a:cubicBezTo>
                  <a:cubicBezTo>
                    <a:pt x="59615" y="1001436"/>
                    <a:pt x="27865" y="953176"/>
                    <a:pt x="12625" y="906186"/>
                  </a:cubicBezTo>
                  <a:cubicBezTo>
                    <a:pt x="-2615" y="860466"/>
                    <a:pt x="-2615" y="805856"/>
                    <a:pt x="5005" y="756326"/>
                  </a:cubicBezTo>
                  <a:cubicBezTo>
                    <a:pt x="13895" y="704256"/>
                    <a:pt x="36755" y="650916"/>
                    <a:pt x="64695" y="602656"/>
                  </a:cubicBezTo>
                  <a:cubicBezTo>
                    <a:pt x="92635" y="551856"/>
                    <a:pt x="132005" y="503596"/>
                    <a:pt x="173915" y="460416"/>
                  </a:cubicBezTo>
                  <a:cubicBezTo>
                    <a:pt x="217095" y="414696"/>
                    <a:pt x="272975" y="371516"/>
                    <a:pt x="323775" y="334686"/>
                  </a:cubicBezTo>
                  <a:cubicBezTo>
                    <a:pt x="370765" y="300396"/>
                    <a:pt x="411405" y="273726"/>
                    <a:pt x="467285" y="247056"/>
                  </a:cubicBezTo>
                  <a:cubicBezTo>
                    <a:pt x="538405" y="214036"/>
                    <a:pt x="637465" y="175936"/>
                    <a:pt x="720015" y="160696"/>
                  </a:cubicBezTo>
                  <a:cubicBezTo>
                    <a:pt x="793675" y="146726"/>
                    <a:pt x="869875" y="150536"/>
                    <a:pt x="938455" y="151806"/>
                  </a:cubicBezTo>
                  <a:cubicBezTo>
                    <a:pt x="996875" y="153076"/>
                    <a:pt x="1071805" y="150536"/>
                    <a:pt x="1102285" y="165776"/>
                  </a:cubicBezTo>
                  <a:cubicBezTo>
                    <a:pt x="1117525" y="174666"/>
                    <a:pt x="1127685" y="187366"/>
                    <a:pt x="1128955" y="197526"/>
                  </a:cubicBezTo>
                  <a:cubicBezTo>
                    <a:pt x="1130225" y="206416"/>
                    <a:pt x="1121335" y="217846"/>
                    <a:pt x="1114985" y="222926"/>
                  </a:cubicBezTo>
                  <a:cubicBezTo>
                    <a:pt x="1109905" y="226736"/>
                    <a:pt x="1093395" y="228006"/>
                    <a:pt x="1093395" y="22800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110085" y="4936808"/>
            <a:ext cx="1223962" cy="963930"/>
            <a:chOff x="0" y="0"/>
            <a:chExt cx="1631950" cy="1285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8650" y="49992"/>
              <a:ext cx="1538440" cy="1190965"/>
            </a:xfrm>
            <a:custGeom>
              <a:avLst/>
              <a:gdLst/>
              <a:ahLst/>
              <a:cxnLst/>
              <a:rect r="r" b="b" t="t" l="l"/>
              <a:pathLst>
                <a:path h="1190965" w="1538440">
                  <a:moveTo>
                    <a:pt x="816220" y="153208"/>
                  </a:moveTo>
                  <a:cubicBezTo>
                    <a:pt x="538090" y="140508"/>
                    <a:pt x="508880" y="151938"/>
                    <a:pt x="468240" y="165908"/>
                  </a:cubicBezTo>
                  <a:cubicBezTo>
                    <a:pt x="421250" y="182418"/>
                    <a:pt x="369180" y="204008"/>
                    <a:pt x="323460" y="230678"/>
                  </a:cubicBezTo>
                  <a:cubicBezTo>
                    <a:pt x="275200" y="258618"/>
                    <a:pt x="226940" y="292908"/>
                    <a:pt x="188840" y="331008"/>
                  </a:cubicBezTo>
                  <a:cubicBezTo>
                    <a:pt x="154550" y="367838"/>
                    <a:pt x="125340" y="405938"/>
                    <a:pt x="103750" y="454198"/>
                  </a:cubicBezTo>
                  <a:cubicBezTo>
                    <a:pt x="79620" y="510078"/>
                    <a:pt x="63110" y="585008"/>
                    <a:pt x="58030" y="651048"/>
                  </a:cubicBezTo>
                  <a:cubicBezTo>
                    <a:pt x="54220" y="719628"/>
                    <a:pt x="56760" y="798368"/>
                    <a:pt x="79620" y="858058"/>
                  </a:cubicBezTo>
                  <a:cubicBezTo>
                    <a:pt x="102480" y="913938"/>
                    <a:pt x="145660" y="963468"/>
                    <a:pt x="191380" y="1001568"/>
                  </a:cubicBezTo>
                  <a:cubicBezTo>
                    <a:pt x="237100" y="1038398"/>
                    <a:pt x="294250" y="1061258"/>
                    <a:pt x="351400" y="1082848"/>
                  </a:cubicBezTo>
                  <a:cubicBezTo>
                    <a:pt x="411090" y="1104438"/>
                    <a:pt x="478400" y="1120948"/>
                    <a:pt x="545710" y="1128568"/>
                  </a:cubicBezTo>
                  <a:cubicBezTo>
                    <a:pt x="615560" y="1136188"/>
                    <a:pt x="689220" y="1136188"/>
                    <a:pt x="764150" y="1126028"/>
                  </a:cubicBezTo>
                  <a:cubicBezTo>
                    <a:pt x="845430" y="1115868"/>
                    <a:pt x="935600" y="1094278"/>
                    <a:pt x="1015610" y="1062528"/>
                  </a:cubicBezTo>
                  <a:cubicBezTo>
                    <a:pt x="1096890" y="1029508"/>
                    <a:pt x="1181980" y="979978"/>
                    <a:pt x="1246750" y="929178"/>
                  </a:cubicBezTo>
                  <a:cubicBezTo>
                    <a:pt x="1306440" y="884728"/>
                    <a:pt x="1358510" y="840278"/>
                    <a:pt x="1396610" y="780588"/>
                  </a:cubicBezTo>
                  <a:cubicBezTo>
                    <a:pt x="1437250" y="715818"/>
                    <a:pt x="1469000" y="625648"/>
                    <a:pt x="1477890" y="551988"/>
                  </a:cubicBezTo>
                  <a:cubicBezTo>
                    <a:pt x="1485510" y="488488"/>
                    <a:pt x="1484240" y="424988"/>
                    <a:pt x="1461380" y="367838"/>
                  </a:cubicBezTo>
                  <a:cubicBezTo>
                    <a:pt x="1434710" y="306878"/>
                    <a:pt x="1392800" y="247188"/>
                    <a:pt x="1321680" y="201468"/>
                  </a:cubicBezTo>
                  <a:cubicBezTo>
                    <a:pt x="1204840" y="127808"/>
                    <a:pt x="832730" y="96058"/>
                    <a:pt x="774310" y="56688"/>
                  </a:cubicBezTo>
                  <a:cubicBezTo>
                    <a:pt x="759070" y="46528"/>
                    <a:pt x="752720" y="37638"/>
                    <a:pt x="752720" y="28748"/>
                  </a:cubicBezTo>
                  <a:cubicBezTo>
                    <a:pt x="752720" y="19858"/>
                    <a:pt x="765420" y="4618"/>
                    <a:pt x="774310" y="808"/>
                  </a:cubicBezTo>
                  <a:cubicBezTo>
                    <a:pt x="781930" y="-1732"/>
                    <a:pt x="794630" y="2078"/>
                    <a:pt x="799710" y="7158"/>
                  </a:cubicBezTo>
                  <a:cubicBezTo>
                    <a:pt x="806060" y="12238"/>
                    <a:pt x="812410" y="23668"/>
                    <a:pt x="809870" y="31288"/>
                  </a:cubicBezTo>
                  <a:cubicBezTo>
                    <a:pt x="807330" y="41448"/>
                    <a:pt x="787010" y="57958"/>
                    <a:pt x="776850" y="56688"/>
                  </a:cubicBezTo>
                  <a:cubicBezTo>
                    <a:pt x="767960" y="55418"/>
                    <a:pt x="751450" y="31288"/>
                    <a:pt x="753990" y="22398"/>
                  </a:cubicBezTo>
                  <a:cubicBezTo>
                    <a:pt x="755260" y="13508"/>
                    <a:pt x="769230" y="3348"/>
                    <a:pt x="789550" y="808"/>
                  </a:cubicBezTo>
                  <a:cubicBezTo>
                    <a:pt x="864480" y="-9352"/>
                    <a:pt x="1236590" y="79548"/>
                    <a:pt x="1359780" y="162098"/>
                  </a:cubicBezTo>
                  <a:cubicBezTo>
                    <a:pt x="1439790" y="215438"/>
                    <a:pt x="1488050" y="286558"/>
                    <a:pt x="1515990" y="357678"/>
                  </a:cubicBezTo>
                  <a:cubicBezTo>
                    <a:pt x="1541390" y="423718"/>
                    <a:pt x="1542660" y="497378"/>
                    <a:pt x="1532500" y="569768"/>
                  </a:cubicBezTo>
                  <a:cubicBezTo>
                    <a:pt x="1519800" y="651048"/>
                    <a:pt x="1482970" y="748838"/>
                    <a:pt x="1438520" y="818688"/>
                  </a:cubicBezTo>
                  <a:cubicBezTo>
                    <a:pt x="1396610" y="883458"/>
                    <a:pt x="1339460" y="931718"/>
                    <a:pt x="1275960" y="978708"/>
                  </a:cubicBezTo>
                  <a:cubicBezTo>
                    <a:pt x="1206110" y="1032048"/>
                    <a:pt x="1115940" y="1082848"/>
                    <a:pt x="1029580" y="1117138"/>
                  </a:cubicBezTo>
                  <a:cubicBezTo>
                    <a:pt x="945760" y="1151428"/>
                    <a:pt x="851780" y="1173018"/>
                    <a:pt x="765420" y="1183178"/>
                  </a:cubicBezTo>
                  <a:cubicBezTo>
                    <a:pt x="685410" y="1193338"/>
                    <a:pt x="607940" y="1193338"/>
                    <a:pt x="533010" y="1184448"/>
                  </a:cubicBezTo>
                  <a:cubicBezTo>
                    <a:pt x="460620" y="1175558"/>
                    <a:pt x="389500" y="1157778"/>
                    <a:pt x="324730" y="1133648"/>
                  </a:cubicBezTo>
                  <a:cubicBezTo>
                    <a:pt x="261230" y="1109518"/>
                    <a:pt x="197730" y="1081578"/>
                    <a:pt x="146930" y="1037128"/>
                  </a:cubicBezTo>
                  <a:cubicBezTo>
                    <a:pt x="96130" y="992678"/>
                    <a:pt x="49140" y="931718"/>
                    <a:pt x="25010" y="866948"/>
                  </a:cubicBezTo>
                  <a:cubicBezTo>
                    <a:pt x="-390" y="799638"/>
                    <a:pt x="-2930" y="713278"/>
                    <a:pt x="2150" y="639618"/>
                  </a:cubicBezTo>
                  <a:cubicBezTo>
                    <a:pt x="7230" y="565958"/>
                    <a:pt x="27550" y="484678"/>
                    <a:pt x="55490" y="422448"/>
                  </a:cubicBezTo>
                  <a:cubicBezTo>
                    <a:pt x="80890" y="369108"/>
                    <a:pt x="113910" y="325928"/>
                    <a:pt x="153280" y="285288"/>
                  </a:cubicBezTo>
                  <a:cubicBezTo>
                    <a:pt x="195190" y="243378"/>
                    <a:pt x="248530" y="207818"/>
                    <a:pt x="299330" y="177338"/>
                  </a:cubicBezTo>
                  <a:cubicBezTo>
                    <a:pt x="347590" y="149398"/>
                    <a:pt x="403470" y="125268"/>
                    <a:pt x="454270" y="108758"/>
                  </a:cubicBezTo>
                  <a:cubicBezTo>
                    <a:pt x="498720" y="93518"/>
                    <a:pt x="535550" y="82088"/>
                    <a:pt x="586350" y="77008"/>
                  </a:cubicBezTo>
                  <a:cubicBezTo>
                    <a:pt x="653660" y="71928"/>
                    <a:pt x="784470" y="79548"/>
                    <a:pt x="822570" y="90978"/>
                  </a:cubicBezTo>
                  <a:cubicBezTo>
                    <a:pt x="835270" y="96058"/>
                    <a:pt x="841620" y="99868"/>
                    <a:pt x="846700" y="107488"/>
                  </a:cubicBezTo>
                  <a:cubicBezTo>
                    <a:pt x="850510" y="112568"/>
                    <a:pt x="851780" y="122728"/>
                    <a:pt x="849240" y="129078"/>
                  </a:cubicBezTo>
                  <a:cubicBezTo>
                    <a:pt x="845430" y="137968"/>
                    <a:pt x="816220" y="153208"/>
                    <a:pt x="816220" y="1532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777705" y="2251060"/>
            <a:ext cx="5481595" cy="5784880"/>
          </a:xfrm>
          <a:custGeom>
            <a:avLst/>
            <a:gdLst/>
            <a:ahLst/>
            <a:cxnLst/>
            <a:rect r="r" b="b" t="t" l="l"/>
            <a:pathLst>
              <a:path h="5784880" w="5481595">
                <a:moveTo>
                  <a:pt x="0" y="0"/>
                </a:moveTo>
                <a:lnTo>
                  <a:pt x="5481595" y="0"/>
                </a:lnTo>
                <a:lnTo>
                  <a:pt x="5481595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66139"/>
            <a:ext cx="6492149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GROSS MARGIN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38933"/>
            <a:ext cx="5245353" cy="332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Physical stores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act as the primary operational driver for the business, generating </a:t>
            </a:r>
            <a:r>
              <a:rPr lang="en-US" b="true" sz="190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$30M 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profit and nearly tripling the output of the E-commerce channel</a:t>
            </a:r>
          </a:p>
          <a:p>
            <a:pPr algn="l">
              <a:lnSpc>
                <a:spcPts val="2665"/>
              </a:lnSpc>
            </a:pP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bottom-line performance is led by physical retail locations, which contribute </a:t>
            </a:r>
            <a:r>
              <a:rPr lang="en-US" b="true" sz="190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$36M 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Net Profit compared to the </a:t>
            </a:r>
            <a:r>
              <a:rPr lang="en-US" b="true" sz="190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$14M 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derived from digital sales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958041" y="2737564"/>
            <a:ext cx="11301259" cy="5297465"/>
          </a:xfrm>
          <a:custGeom>
            <a:avLst/>
            <a:gdLst/>
            <a:ahLst/>
            <a:cxnLst/>
            <a:rect r="r" b="b" t="t" l="l"/>
            <a:pathLst>
              <a:path h="5297465" w="11301259">
                <a:moveTo>
                  <a:pt x="0" y="0"/>
                </a:moveTo>
                <a:lnTo>
                  <a:pt x="11301259" y="0"/>
                </a:lnTo>
                <a:lnTo>
                  <a:pt x="11301259" y="5297465"/>
                </a:lnTo>
                <a:lnTo>
                  <a:pt x="0" y="5297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66139"/>
            <a:ext cx="4929341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OPERATION</a:t>
            </a:r>
          </a:p>
          <a:p>
            <a:pPr algn="l" marL="0" indent="0" lvl="0">
              <a:lnSpc>
                <a:spcPts val="35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38933"/>
            <a:ext cx="4691216" cy="332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February shows a spike in expenses (~-1.64M) without a proportional revenue increase</a:t>
            </a: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Mid-year (June–July) revenue improves, but expenses remain elevated (~-2.0M)</a:t>
            </a: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 of year shows expense increase again (~-1.92M) with only modest revenue growth</a:t>
            </a:r>
          </a:p>
          <a:p>
            <a:pPr algn="l">
              <a:lnSpc>
                <a:spcPts val="266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958041" y="2918147"/>
            <a:ext cx="11301259" cy="4803035"/>
          </a:xfrm>
          <a:custGeom>
            <a:avLst/>
            <a:gdLst/>
            <a:ahLst/>
            <a:cxnLst/>
            <a:rect r="r" b="b" t="t" l="l"/>
            <a:pathLst>
              <a:path h="4803035" w="11301259">
                <a:moveTo>
                  <a:pt x="0" y="0"/>
                </a:moveTo>
                <a:lnTo>
                  <a:pt x="11301259" y="0"/>
                </a:lnTo>
                <a:lnTo>
                  <a:pt x="11301259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66139"/>
            <a:ext cx="4929341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OPERATION</a:t>
            </a:r>
          </a:p>
          <a:p>
            <a:pPr algn="l" marL="0" indent="0" lvl="0">
              <a:lnSpc>
                <a:spcPts val="35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38933"/>
            <a:ext cx="4691216" cy="198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NRG Stockholm is the top-performing location with </a:t>
            </a:r>
            <a:r>
              <a:rPr lang="en-US" sz="19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$1.63M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revenue, leading a highly consistent field where the majority of top-tier stores maintain a narrow performance range between $1.47M and </a:t>
            </a:r>
            <a:r>
              <a:rPr lang="en-US" sz="19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$1.51M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66139"/>
            <a:ext cx="492934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SCENARIO 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38933"/>
            <a:ext cx="4691216" cy="43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chart compares Actual, Best Case, and Worst Case scenarios across stores, illustrating potential variations in financial performance under different business conditions.</a:t>
            </a:r>
          </a:p>
          <a:p>
            <a:pPr algn="l">
              <a:lnSpc>
                <a:spcPts val="2665"/>
              </a:lnSpc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is designed to:</a:t>
            </a: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Evaluate business sensitivity to change</a:t>
            </a: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Identify risk exposure and upside potential</a:t>
            </a: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Support strategic decision-making under uncertainty</a:t>
            </a:r>
          </a:p>
          <a:p>
            <a:pPr algn="l">
              <a:lnSpc>
                <a:spcPts val="266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782204" y="2869520"/>
            <a:ext cx="9477096" cy="5448605"/>
          </a:xfrm>
          <a:custGeom>
            <a:avLst/>
            <a:gdLst/>
            <a:ahLst/>
            <a:cxnLst/>
            <a:rect r="r" b="b" t="t" l="l"/>
            <a:pathLst>
              <a:path h="5448605" w="9477096">
                <a:moveTo>
                  <a:pt x="0" y="0"/>
                </a:moveTo>
                <a:lnTo>
                  <a:pt x="9477096" y="0"/>
                </a:lnTo>
                <a:lnTo>
                  <a:pt x="9477096" y="5448606"/>
                </a:lnTo>
                <a:lnTo>
                  <a:pt x="0" y="5448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580241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92515" y="513682"/>
            <a:ext cx="0" cy="35440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092298" y="1028700"/>
            <a:ext cx="5167002" cy="7784560"/>
          </a:xfrm>
          <a:custGeom>
            <a:avLst/>
            <a:gdLst/>
            <a:ahLst/>
            <a:cxnLst/>
            <a:rect r="r" b="b" t="t" l="l"/>
            <a:pathLst>
              <a:path h="7784560" w="5167002">
                <a:moveTo>
                  <a:pt x="0" y="0"/>
                </a:moveTo>
                <a:lnTo>
                  <a:pt x="5167002" y="0"/>
                </a:lnTo>
                <a:lnTo>
                  <a:pt x="5167002" y="7784560"/>
                </a:lnTo>
                <a:lnTo>
                  <a:pt x="0" y="778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70718" y="2685365"/>
            <a:ext cx="4691216" cy="499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Systemic performance gap: All stores are ~17% below Best Case → indicates a company-wide structural issue, not isolated underperformance</a:t>
            </a: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Uneven s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tore resilience: Best performer is NRG Online Norway (~ -$3.77M), while NRG Online Sweden &amp; NRG Trondheim face highest downside risk (~ -$5M+)</a:t>
            </a:r>
          </a:p>
          <a:p>
            <a:pPr algn="l" marL="411074" indent="-205537" lvl="1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Urgent cost optimization needed: A ~$5M gap to Best Case requires immediate company-wide improvements in logistics and marketing efficiency</a:t>
            </a:r>
          </a:p>
          <a:p>
            <a:pPr algn="l">
              <a:lnSpc>
                <a:spcPts val="266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DAHGBxKH5MM</dc:identifier>
  <dcterms:modified xsi:type="dcterms:W3CDTF">2011-08-01T06:04:30Z</dcterms:modified>
  <cp:revision>1</cp:revision>
  <dc:title>finance analytics</dc:title>
</cp:coreProperties>
</file>